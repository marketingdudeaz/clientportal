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AI Engine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scenarios &amp; discussion guide — Property Marketing working session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RPM Digital Platform  ·  July 2026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22960" y="4023360"/>
            <a:ext cx="201168" cy="20116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392277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395728" y="392277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898648" y="4023360"/>
            <a:ext cx="201168" cy="201168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9" name="Text 7"/>
          <p:cNvSpPr/>
          <p:nvPr/>
        </p:nvSpPr>
        <p:spPr>
          <a:xfrm>
            <a:off x="3191256" y="392277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315968" y="392277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18888" y="4023360"/>
            <a:ext cx="201168" cy="201168"/>
          </a:xfrm>
          <a:prstGeom prst="ellipse">
            <a:avLst/>
          </a:prstGeom>
          <a:solidFill>
            <a:srgbClr val="3E9B6C"/>
          </a:solidFill>
          <a:ln/>
        </p:spPr>
      </p:sp>
      <p:sp>
        <p:nvSpPr>
          <p:cNvPr id="12" name="Text 10"/>
          <p:cNvSpPr/>
          <p:nvPr/>
        </p:nvSpPr>
        <p:spPr>
          <a:xfrm>
            <a:off x="5111496" y="392277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91656" y="392277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894576" y="4023360"/>
            <a:ext cx="201168" cy="201168"/>
          </a:xfrm>
          <a:prstGeom prst="ellipse">
            <a:avLst/>
          </a:prstGeom>
          <a:solidFill>
            <a:srgbClr val="C2497B"/>
          </a:solidFill>
          <a:ln/>
        </p:spPr>
      </p:sp>
      <p:sp>
        <p:nvSpPr>
          <p:cNvPr id="15" name="Text 13"/>
          <p:cNvSpPr/>
          <p:nvPr/>
        </p:nvSpPr>
        <p:spPr>
          <a:xfrm>
            <a:off x="7187184" y="3922776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" y="4526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is the stage that closes the Loop — the AI engine this session is about.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AI engine sits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FOUR-STAGE LOOP — AS CLIENTS SEE IT ON THE PORTAL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3F5F9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517904"/>
            <a:ext cx="164592" cy="164592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40817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+ organic acquisition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1261872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3F5F9"/>
          </a:solidFill>
          <a:ln/>
        </p:spPr>
      </p:sp>
      <p:sp>
        <p:nvSpPr>
          <p:cNvPr id="9" name="Shape 7"/>
          <p:cNvSpPr/>
          <p:nvPr/>
        </p:nvSpPr>
        <p:spPr>
          <a:xfrm>
            <a:off x="3611880" y="1517904"/>
            <a:ext cx="164592" cy="164592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10" name="Text 8"/>
          <p:cNvSpPr/>
          <p:nvPr/>
        </p:nvSpPr>
        <p:spPr>
          <a:xfrm>
            <a:off x="3886200" y="140817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611880" y="1828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content + AEO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1261872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3F5F9"/>
          </a:solidFill>
          <a:ln/>
        </p:spPr>
      </p:sp>
      <p:sp>
        <p:nvSpPr>
          <p:cNvPr id="13" name="Shape 11"/>
          <p:cNvSpPr/>
          <p:nvPr/>
        </p:nvSpPr>
        <p:spPr>
          <a:xfrm>
            <a:off x="6446520" y="1517904"/>
            <a:ext cx="164592" cy="164592"/>
          </a:xfrm>
          <a:prstGeom prst="ellipse">
            <a:avLst/>
          </a:prstGeom>
          <a:solidFill>
            <a:srgbClr val="3E9B6C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140817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446520" y="1828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→ tours → leases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52560" y="1261872"/>
            <a:ext cx="2697480" cy="1143000"/>
          </a:xfrm>
          <a:prstGeom prst="roundRect">
            <a:avLst>
              <a:gd name="adj" fmla="val 6400"/>
            </a:avLst>
          </a:prstGeom>
          <a:solidFill>
            <a:srgbClr val="F8ECF2"/>
          </a:solidFill>
          <a:ln w="19050">
            <a:solidFill>
              <a:srgbClr val="C249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81160" y="1517904"/>
            <a:ext cx="164592" cy="164592"/>
          </a:xfrm>
          <a:prstGeom prst="ellipse">
            <a:avLst/>
          </a:prstGeom>
          <a:solidFill>
            <a:srgbClr val="C2497B"/>
          </a:solidFill>
          <a:ln/>
        </p:spPr>
      </p:sp>
      <p:sp>
        <p:nvSpPr>
          <p:cNvPr id="18" name="Text 16"/>
          <p:cNvSpPr/>
          <p:nvPr/>
        </p:nvSpPr>
        <p:spPr>
          <a:xfrm>
            <a:off x="9555480" y="1408176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281160" y="1828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+ forecasts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269748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OPTIMIZE ENGINE PRODUCES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026664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5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315468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lease forecast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9808" y="3538728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property, with a confidence range. Pilot property today: 10.8 leases (range 7.6–14.0).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83280" y="3026664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5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84448" y="315468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allocation &amp; CPL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3584448" y="3538728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Spend, cost per lease, and projected leases for each of the five media channels.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17920" y="3026664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5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19088" y="315468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recommendations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419088" y="3538728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Shift, increase, or hold — each with a rationale and an Approve &amp; Apply / Defer choice.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9052560" y="3026664"/>
            <a:ext cx="26974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5">
                <a:alpha val="3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253728" y="3154680"/>
            <a:ext cx="2295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AI-curated summary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253728" y="3538728"/>
            <a:ext cx="2295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monthly digest: what changed, what's working, what needs your input.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48640" y="480060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OPERATING MODES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8640" y="5148072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3F5F9"/>
          </a:solidFill>
          <a:ln/>
        </p:spPr>
      </p:sp>
      <p:sp>
        <p:nvSpPr>
          <p:cNvPr id="35" name="Shape 33"/>
          <p:cNvSpPr/>
          <p:nvPr/>
        </p:nvSpPr>
        <p:spPr>
          <a:xfrm>
            <a:off x="768096" y="5385816"/>
            <a:ext cx="128016" cy="128016"/>
          </a:xfrm>
          <a:prstGeom prst="ellipse">
            <a:avLst/>
          </a:prstGeom>
          <a:solidFill>
            <a:srgbClr val="C2497B"/>
          </a:solidFill>
          <a:ln/>
        </p:spPr>
      </p:sp>
      <p:sp>
        <p:nvSpPr>
          <p:cNvPr id="36" name="Text 34"/>
          <p:cNvSpPr/>
          <p:nvPr/>
        </p:nvSpPr>
        <p:spPr>
          <a:xfrm>
            <a:off x="1005840" y="527608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Auto-pilot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768096" y="5641848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applies small, bounded changes itself; the client reviews a weekly digest.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343400" y="5148072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3F5F9"/>
          </a:solidFill>
          <a:ln/>
        </p:spPr>
      </p:sp>
      <p:sp>
        <p:nvSpPr>
          <p:cNvPr id="39" name="Shape 37"/>
          <p:cNvSpPr/>
          <p:nvPr/>
        </p:nvSpPr>
        <p:spPr>
          <a:xfrm>
            <a:off x="4562856" y="5385816"/>
            <a:ext cx="128016" cy="128016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527608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Co-pilot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4562856" y="5641848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proposes; the client or AM approves before anything is applied.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8138160" y="5148072"/>
            <a:ext cx="3611880" cy="1143000"/>
          </a:xfrm>
          <a:prstGeom prst="roundRect">
            <a:avLst>
              <a:gd name="adj" fmla="val 6400"/>
            </a:avLst>
          </a:prstGeom>
          <a:solidFill>
            <a:srgbClr val="F3F5F9"/>
          </a:solidFill>
          <a:ln/>
        </p:spPr>
      </p:sp>
      <p:sp>
        <p:nvSpPr>
          <p:cNvPr id="43" name="Shape 41"/>
          <p:cNvSpPr/>
          <p:nvPr/>
        </p:nvSpPr>
        <p:spPr>
          <a:xfrm>
            <a:off x="8357616" y="5385816"/>
            <a:ext cx="128016" cy="128016"/>
          </a:xfrm>
          <a:prstGeom prst="ellipse">
            <a:avLst/>
          </a:prstGeom>
          <a:solidFill>
            <a:srgbClr val="3E9B6C"/>
          </a:solidFill>
          <a:ln/>
        </p:spPr>
      </p:sp>
      <p:sp>
        <p:nvSpPr>
          <p:cNvPr id="44" name="Text 42"/>
          <p:cNvSpPr/>
          <p:nvPr/>
        </p:nvSpPr>
        <p:spPr>
          <a:xfrm>
            <a:off x="8595360" y="5276088"/>
            <a:ext cx="2971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8357616" y="5641848"/>
            <a:ext cx="31729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AM crafts a goal-driven plan; the engine executes and reports against it.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recommendation becomes a budget change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behind every scenario in this deck.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315468" y="1920240"/>
            <a:ext cx="2048256" cy="2514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5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98348" y="2121408"/>
            <a:ext cx="274320" cy="2743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498348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3484" y="2487168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8348" y="2871216"/>
            <a:ext cx="168249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spend by channel, lease counts, occupancy — 12 months of history per property.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00300" y="3177540"/>
            <a:ext cx="256032" cy="0"/>
          </a:xfrm>
          <a:prstGeom prst="line">
            <a:avLst/>
          </a:prstGeom>
          <a:noFill/>
          <a:ln w="25400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692908" y="1920240"/>
            <a:ext cx="2048256" cy="2514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5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75788" y="2121408"/>
            <a:ext cx="274320" cy="274320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12" name="Text 10"/>
          <p:cNvSpPr/>
          <p:nvPr/>
        </p:nvSpPr>
        <p:spPr>
          <a:xfrm>
            <a:off x="2875788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20924" y="2487168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75788" y="2871216"/>
            <a:ext cx="168249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leases for the next 30 days, with a confidence range and a stated methodology.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77740" y="3177540"/>
            <a:ext cx="256032" cy="0"/>
          </a:xfrm>
          <a:prstGeom prst="line">
            <a:avLst/>
          </a:prstGeom>
          <a:noFill/>
          <a:ln w="25400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70348" y="1920240"/>
            <a:ext cx="2048256" cy="2514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5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53228" y="2121408"/>
            <a:ext cx="274320" cy="274320"/>
          </a:xfrm>
          <a:prstGeom prst="ellipse">
            <a:avLst/>
          </a:prstGeom>
          <a:solidFill>
            <a:srgbClr val="C2497B"/>
          </a:solidFill>
          <a:ln/>
        </p:spPr>
      </p:sp>
      <p:sp>
        <p:nvSpPr>
          <p:cNvPr id="18" name="Text 16"/>
          <p:cNvSpPr/>
          <p:nvPr/>
        </p:nvSpPr>
        <p:spPr>
          <a:xfrm>
            <a:off x="5253228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198364" y="2487168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253228" y="2871216"/>
            <a:ext cx="168249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budget, request an increase, or hold — each with a plain-language rationale and projected lease impact.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55180" y="3177540"/>
            <a:ext cx="256032" cy="0"/>
          </a:xfrm>
          <a:prstGeom prst="line">
            <a:avLst/>
          </a:prstGeom>
          <a:noFill/>
          <a:ln w="25400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47788" y="1920240"/>
            <a:ext cx="2048256" cy="2514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5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630668" y="2121408"/>
            <a:ext cx="274320" cy="274320"/>
          </a:xfrm>
          <a:prstGeom prst="ellipse">
            <a:avLst/>
          </a:prstGeom>
          <a:solidFill>
            <a:srgbClr val="3E9B6C"/>
          </a:solidFill>
          <a:ln/>
        </p:spPr>
      </p:sp>
      <p:sp>
        <p:nvSpPr>
          <p:cNvPr id="24" name="Text 22"/>
          <p:cNvSpPr/>
          <p:nvPr/>
        </p:nvSpPr>
        <p:spPr>
          <a:xfrm>
            <a:off x="7630668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75804" y="2487168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decision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630668" y="2871216"/>
            <a:ext cx="168249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or AM sees Approve &amp; Apply / Defer. Auto-pilot can self-approve only small, bounded moves.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532620" y="3177540"/>
            <a:ext cx="256032" cy="0"/>
          </a:xfrm>
          <a:prstGeom prst="line">
            <a:avLst/>
          </a:prstGeom>
          <a:noFill/>
          <a:ln w="25400">
            <a:solidFill>
              <a:srgbClr val="9AA3B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825228" y="1920240"/>
            <a:ext cx="2048256" cy="251460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5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0008108" y="2121408"/>
            <a:ext cx="274320" cy="274320"/>
          </a:xfrm>
          <a:prstGeom prst="ellipse">
            <a:avLst/>
          </a:prstGeom>
          <a:solidFill>
            <a:srgbClr val="1E2A44"/>
          </a:solidFill>
          <a:ln/>
        </p:spPr>
      </p:sp>
      <p:sp>
        <p:nvSpPr>
          <p:cNvPr id="30" name="Text 28"/>
          <p:cNvSpPr/>
          <p:nvPr/>
        </p:nvSpPr>
        <p:spPr>
          <a:xfrm>
            <a:off x="10008108" y="2121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953244" y="2487168"/>
            <a:ext cx="17922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&amp; learn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08108" y="2871216"/>
            <a:ext cx="1682496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builds the deal + quote for the RM to sign. The outcome feeds the next forecast.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98348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8ECF2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498348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every budget change routes through a human — nothing goes live until a Regional Manager signs. </a:t>
            </a:r>
            <a:pPr indent="0" marL="0">
              <a:buNone/>
            </a:pPr>
            <a:r>
              <a:rPr lang="en-US" sz="145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for this room: where should that line sit as the engine earns trust?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1  </a:t>
            </a:r>
            <a:pPr indent="0" marL="0">
              <a:buNone/>
            </a:pPr>
            <a:r>
              <a:rPr lang="en-US" sz="27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budget shift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829800" y="402336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3B82C4"/>
          </a:solidFill>
          <a:ln/>
        </p:spPr>
      </p:sp>
      <p:sp>
        <p:nvSpPr>
          <p:cNvPr id="4" name="Text 2"/>
          <p:cNvSpPr/>
          <p:nvPr/>
        </p:nvSpPr>
        <p:spPr>
          <a:xfrm>
            <a:off x="9829800" y="4023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CO-PILOT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stabilized property, $3,400/mo across five channels. The engine spots one channel converting at 3× the cost of another.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68122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5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00200"/>
            <a:ext cx="6263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Ashton  ·  264 units  ·  Standard tier  ·  $3,400/mo media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1984248"/>
            <a:ext cx="626364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93976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(1)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496312"/>
            <a:ext cx="6263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$450/mo from Reputation → SEO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2935224"/>
            <a:ext cx="6263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is converting at ~$200 per lease; Reputation at ~$600. Moving 15% of Reputation spend adds a projected +2.1 leases over the next 30 days.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749040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E9EDF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74904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shift_budget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331720" y="374904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E3F1EA"/>
          </a:solidFill>
          <a:ln/>
        </p:spPr>
      </p:sp>
      <p:sp>
        <p:nvSpPr>
          <p:cNvPr id="15" name="Text 13"/>
          <p:cNvSpPr/>
          <p:nvPr/>
        </p:nvSpPr>
        <p:spPr>
          <a:xfrm>
            <a:off x="2331720" y="37490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E9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+2.1 leases (30d)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2960" y="4389120"/>
            <a:ext cx="1965960" cy="475488"/>
          </a:xfrm>
          <a:prstGeom prst="roundRect">
            <a:avLst>
              <a:gd name="adj" fmla="val 15385"/>
            </a:avLst>
          </a:prstGeom>
          <a:solidFill>
            <a:srgbClr val="C2497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38912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&amp; Apply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926080" y="4389120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875">
            <a:solidFill>
              <a:srgbClr val="D9DE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0" y="4389120"/>
            <a:ext cx="1325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5093208"/>
            <a:ext cx="6263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Approving routes to your team for execution — nothing changes automatically.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5870448"/>
            <a:ext cx="6812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in the build today: a move is capped at 15% of the source channel, and the engine stays silent (“the Loop is balanced”) when the shift is under $50 or the projected gain is under half a lease.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635240" y="1417320"/>
            <a:ext cx="4005072" cy="4892040"/>
          </a:xfrm>
          <a:prstGeom prst="roundRect">
            <a:avLst>
              <a:gd name="adj" fmla="val 2055"/>
            </a:avLst>
          </a:prstGeom>
          <a:solidFill>
            <a:srgbClr val="F3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7909560" y="163677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ROOM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09560" y="2039112"/>
            <a:ext cx="3502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you approve this from the rationale alone — what's missing before you'd hit the button?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09560" y="3081528"/>
            <a:ext cx="3502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15% of a channel per move the right ceiling, or should it flex by property size and season?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09560" y="4123944"/>
            <a:ext cx="3502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should see this first — the client, the AM, or both at the same moment?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09560" y="5166360"/>
            <a:ext cx="3502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channels the engine should never be allowed to pull money from?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2  </a:t>
            </a:r>
            <a:pPr indent="0" marL="0">
              <a:buNone/>
            </a:pPr>
            <a:r>
              <a:rPr lang="en-US" sz="27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Asking for more money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829800" y="402336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3B82C4"/>
          </a:solidFill>
          <a:ln/>
        </p:spPr>
      </p:sp>
      <p:sp>
        <p:nvSpPr>
          <p:cNvPr id="4" name="Text 2"/>
          <p:cNvSpPr/>
          <p:nvPr/>
        </p:nvSpPr>
        <p:spPr>
          <a:xfrm>
            <a:off x="9829800" y="4023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CO-PILOT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is capped by budget while performance status is yellow. The engine wants to ask the client for more.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68122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5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0020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budget change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40680" y="1600200"/>
            <a:ext cx="1645920" cy="292608"/>
          </a:xfrm>
          <a:prstGeom prst="roundRect">
            <a:avLst>
              <a:gd name="adj" fmla="val 50000"/>
            </a:avLst>
          </a:prstGeom>
          <a:solidFill>
            <a:srgbClr val="FBF3D9"/>
          </a:solidFill>
          <a:ln/>
        </p:spPr>
      </p:sp>
      <p:sp>
        <p:nvSpPr>
          <p:cNvPr id="9" name="Text 7"/>
          <p:cNvSpPr/>
          <p:nvPr/>
        </p:nvSpPr>
        <p:spPr>
          <a:xfrm>
            <a:off x="5440680" y="16002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A7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YELLOW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2075688"/>
            <a:ext cx="6263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Paid Search  $1,200 → $1,800/mo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2514600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 is losing ~38% of available impressions to budget while marketing status is yellow. Raising spend recovers most of that lost share (capped at +50% per step).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355848"/>
            <a:ext cx="1508760" cy="292608"/>
          </a:xfrm>
          <a:prstGeom prst="roundRect">
            <a:avLst>
              <a:gd name="adj" fmla="val 50000"/>
            </a:avLst>
          </a:prstGeom>
          <a:solidFill>
            <a:srgbClr val="E9EDF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55848"/>
            <a:ext cx="1508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budget_change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468880" y="3355848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8ECF2"/>
          </a:solidFill>
          <a:ln/>
        </p:spPr>
      </p:sp>
      <p:sp>
        <p:nvSpPr>
          <p:cNvPr id="15" name="Text 13"/>
          <p:cNvSpPr/>
          <p:nvPr/>
        </p:nvSpPr>
        <p:spPr>
          <a:xfrm>
            <a:off x="2468880" y="3355848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+$600/mo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822960" y="386791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impressions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" y="4142232"/>
            <a:ext cx="6263640" cy="384048"/>
          </a:xfrm>
          <a:prstGeom prst="roundRect">
            <a:avLst>
              <a:gd name="adj" fmla="val 11905"/>
            </a:avLst>
          </a:prstGeom>
          <a:solidFill>
            <a:srgbClr val="E9EDF4"/>
          </a:solidFill>
          <a:ln/>
        </p:spPr>
      </p:sp>
      <p:sp>
        <p:nvSpPr>
          <p:cNvPr id="18" name="Shape 16"/>
          <p:cNvSpPr/>
          <p:nvPr/>
        </p:nvSpPr>
        <p:spPr>
          <a:xfrm>
            <a:off x="822960" y="4142232"/>
            <a:ext cx="3883457" cy="384048"/>
          </a:xfrm>
          <a:prstGeom prst="roundRect">
            <a:avLst>
              <a:gd name="adj" fmla="val 11905"/>
            </a:avLst>
          </a:prstGeom>
          <a:solidFill>
            <a:srgbClr val="3B82C4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14223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 captured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2137" y="4142232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lost to budget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2960" y="4818888"/>
            <a:ext cx="6263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Approving builds the deal + quote for your Regional Manager to sign — nothing goes live until signed.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870448"/>
            <a:ext cx="6812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in the build today: fires only when performance status is red or yellow and ≥10% of impression share is lost to budget; capped at +50% and $10k/mo; suppressed when a budget deal is already in flight.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635240" y="1417320"/>
            <a:ext cx="4005072" cy="4892040"/>
          </a:xfrm>
          <a:prstGeom prst="roundRect">
            <a:avLst>
              <a:gd name="adj" fmla="val 2055"/>
            </a:avLst>
          </a:prstGeom>
          <a:solidFill>
            <a:srgbClr val="F3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7909560" y="163677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ROOM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09560" y="2039112"/>
            <a:ext cx="3502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 earns the right to ask a client for more budget — and is lost impression share enough?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09560" y="3081528"/>
            <a:ext cx="3502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+50% in one step too aggressive? Should increases ladder in smaller moves?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09560" y="4123944"/>
            <a:ext cx="3502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should the engine explicitly not ask, even when the data says yes?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09560" y="5166360"/>
            <a:ext cx="3502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ask belong on the portal, or in the AM's hands first?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3  </a:t>
            </a:r>
            <a:pPr indent="0" marL="0">
              <a:buNone/>
            </a:pPr>
            <a:r>
              <a:rPr lang="en-US" sz="27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Auto-pilot acts alone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829800" y="402336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C2497B"/>
          </a:solidFill>
          <a:ln/>
        </p:spPr>
      </p:sp>
      <p:sp>
        <p:nvSpPr>
          <p:cNvPr id="4" name="Text 2"/>
          <p:cNvSpPr/>
          <p:nvPr/>
        </p:nvSpPr>
        <p:spPr>
          <a:xfrm>
            <a:off x="9829800" y="4023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AUTO-PILOT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Local-tier property with a small budget. The engine makes a bounded move itself and tells the client afterward.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68122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5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00200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weekly summary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23560" y="1600200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8ECF2"/>
          </a:solidFill>
          <a:ln/>
        </p:spPr>
      </p:sp>
      <p:sp>
        <p:nvSpPr>
          <p:cNvPr id="9" name="Text 7"/>
          <p:cNvSpPr/>
          <p:nvPr/>
        </p:nvSpPr>
        <p:spPr>
          <a:xfrm>
            <a:off x="5623560" y="16002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AI-CURATED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2960" y="2020824"/>
            <a:ext cx="6263640" cy="0"/>
          </a:xfrm>
          <a:prstGeom prst="line">
            <a:avLst/>
          </a:prstGeom>
          <a:noFill/>
          <a:ln w="12700">
            <a:solidFill>
              <a:srgbClr val="D9DE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67128"/>
            <a:ext cx="6263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handling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2551176"/>
            <a:ext cx="6263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Loop adjusted spend by $300 toward Paid Search this week after paid social cost-per-lease rose for the third straight month. No action needed from you — full detail is in your Loop timeline.”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3813048"/>
            <a:ext cx="1444752" cy="1051560"/>
          </a:xfrm>
          <a:prstGeom prst="roundRect">
            <a:avLst>
              <a:gd name="adj" fmla="val 6087"/>
            </a:avLst>
          </a:prstGeom>
          <a:solidFill>
            <a:srgbClr val="F3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922776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15%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96112" y="4288536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source channel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404872" y="3813048"/>
            <a:ext cx="1444752" cy="1051560"/>
          </a:xfrm>
          <a:prstGeom prst="roundRect">
            <a:avLst>
              <a:gd name="adj" fmla="val 6087"/>
            </a:avLst>
          </a:prstGeom>
          <a:solidFill>
            <a:srgbClr val="F3F5F9"/>
          </a:solidFill>
          <a:ln/>
        </p:spPr>
      </p:sp>
      <p:sp>
        <p:nvSpPr>
          <p:cNvPr id="17" name="Text 15"/>
          <p:cNvSpPr/>
          <p:nvPr/>
        </p:nvSpPr>
        <p:spPr>
          <a:xfrm>
            <a:off x="2404872" y="3922776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$500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478024" y="4288536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automatic move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86784" y="3813048"/>
            <a:ext cx="1444752" cy="1051560"/>
          </a:xfrm>
          <a:prstGeom prst="roundRect">
            <a:avLst>
              <a:gd name="adj" fmla="val 6087"/>
            </a:avLst>
          </a:prstGeom>
          <a:solidFill>
            <a:srgbClr val="F3F5F9"/>
          </a:solidFill>
          <a:ln/>
        </p:spPr>
      </p:sp>
      <p:sp>
        <p:nvSpPr>
          <p:cNvPr id="20" name="Text 18"/>
          <p:cNvSpPr/>
          <p:nvPr/>
        </p:nvSpPr>
        <p:spPr>
          <a:xfrm>
            <a:off x="3986784" y="3922776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forecast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059936" y="4288536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must be positive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68696" y="3813048"/>
            <a:ext cx="1444752" cy="1051560"/>
          </a:xfrm>
          <a:prstGeom prst="roundRect">
            <a:avLst>
              <a:gd name="adj" fmla="val 6087"/>
            </a:avLst>
          </a:prstGeom>
          <a:solidFill>
            <a:srgbClr val="F3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5568696" y="3922776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41848" y="4288536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 on new properties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2960" y="5056632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Auto-pilot can only self-approve budget shifts, SEO refreshes, and AEO content batches — never budget increases.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5870448"/>
            <a:ext cx="6812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default in ADR 0009: Local &amp; Lite tiers start in auto-pilot, Basic &amp; Standard in co-pilot, Premium in custom. This room gets a vote.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635240" y="1417320"/>
            <a:ext cx="4005072" cy="4892040"/>
          </a:xfrm>
          <a:prstGeom prst="roundRect">
            <a:avLst>
              <a:gd name="adj" fmla="val 2055"/>
            </a:avLst>
          </a:prstGeom>
          <a:solidFill>
            <a:srgbClr val="F3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7909560" y="163677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ROOM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909560" y="2039112"/>
            <a:ext cx="3502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properties should default to auto-pilot — by tier, budget size, or client relationship?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909560" y="3081528"/>
            <a:ext cx="3502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$500 cap per automatic move too timid, or too bold?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909560" y="4123944"/>
            <a:ext cx="3502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loudly do we tell the client the AI acted — weekly digest, same-day email, or only on request?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09560" y="5166360"/>
            <a:ext cx="3502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single action, if automated, would save your team the most hours?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4  </a:t>
            </a:r>
            <a:pPr indent="0" marL="0">
              <a:buNone/>
            </a:pPr>
            <a:r>
              <a:rPr lang="en-US" sz="27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 misses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829800" y="402336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1E2A44"/>
          </a:solidFill>
          <a:ln/>
        </p:spPr>
      </p:sp>
      <p:sp>
        <p:nvSpPr>
          <p:cNvPr id="4" name="Text 2"/>
          <p:cNvSpPr/>
          <p:nvPr/>
        </p:nvSpPr>
        <p:spPr>
          <a:xfrm>
            <a:off x="9829800" y="4023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month the engine forecast 10.8 leases with an 80% confidence range of 7.6–14.0. The property signed 5.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68122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5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002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vs. actual — last 30 days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075688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10.8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leases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91840" y="2075688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3291840" y="3017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leases signed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32120" y="237744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FBE5E2"/>
          </a:solidFill>
          <a:ln/>
        </p:spPr>
      </p:sp>
      <p:sp>
        <p:nvSpPr>
          <p:cNvPr id="13" name="Text 11"/>
          <p:cNvSpPr/>
          <p:nvPr/>
        </p:nvSpPr>
        <p:spPr>
          <a:xfrm>
            <a:off x="5532120" y="23774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RANGE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22960" y="35661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confidence range: 7.6 – 14.0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3877056"/>
            <a:ext cx="6263640" cy="274320"/>
          </a:xfrm>
          <a:prstGeom prst="roundRect">
            <a:avLst>
              <a:gd name="adj" fmla="val 16667"/>
            </a:avLst>
          </a:prstGeom>
          <a:solidFill>
            <a:srgbClr val="E9EDF4"/>
          </a:solidFill>
          <a:ln/>
        </p:spPr>
      </p:sp>
      <p:sp>
        <p:nvSpPr>
          <p:cNvPr id="16" name="Shape 14"/>
          <p:cNvSpPr/>
          <p:nvPr/>
        </p:nvSpPr>
        <p:spPr>
          <a:xfrm>
            <a:off x="3798189" y="3877056"/>
            <a:ext cx="2505456" cy="274320"/>
          </a:xfrm>
          <a:prstGeom prst="roundRect">
            <a:avLst>
              <a:gd name="adj" fmla="val 16667"/>
            </a:avLst>
          </a:prstGeom>
          <a:solidFill>
            <a:srgbClr val="BFD3EA"/>
          </a:solidFill>
          <a:ln/>
        </p:spPr>
      </p:sp>
      <p:sp>
        <p:nvSpPr>
          <p:cNvPr id="17" name="Shape 15"/>
          <p:cNvSpPr/>
          <p:nvPr/>
        </p:nvSpPr>
        <p:spPr>
          <a:xfrm>
            <a:off x="5050917" y="3822192"/>
            <a:ext cx="0" cy="384048"/>
          </a:xfrm>
          <a:prstGeom prst="line">
            <a:avLst/>
          </a:prstGeom>
          <a:noFill/>
          <a:ln w="31750">
            <a:solidFill>
              <a:srgbClr val="3B82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80348" y="3822192"/>
            <a:ext cx="0" cy="384048"/>
          </a:xfrm>
          <a:prstGeom prst="line">
            <a:avLst/>
          </a:prstGeom>
          <a:noFill/>
          <a:ln w="31750">
            <a:solidFill>
              <a:srgbClr val="C249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94548" y="42428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 5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273677" y="4242816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forecast: 10.8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" y="4663440"/>
            <a:ext cx="6263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already scores itself: average miss size and how often actuals land inside the range, per property and portfolio-wide. An AM alert on big deviations is designed but not yet switched on — this room sets the threshold.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35240" y="1417320"/>
            <a:ext cx="4005072" cy="4892040"/>
          </a:xfrm>
          <a:prstGeom prst="roundRect">
            <a:avLst>
              <a:gd name="adj" fmla="val 2055"/>
            </a:avLst>
          </a:prstGeom>
          <a:solidFill>
            <a:srgbClr val="F3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7909560" y="163677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ROOM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09560" y="2039112"/>
            <a:ext cx="3502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what size of miss should an AM be alerted — before the client notices?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09560" y="3081528"/>
            <a:ext cx="3502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clients see forecast accuracy? Is it confidence-building or ammunition?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09560" y="4123944"/>
            <a:ext cx="3502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next month's AI summary say about the miss?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09560" y="5166360"/>
            <a:ext cx="3502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offline factors — renovations, staffing, pricing moves — should the engine be told about, and by whom?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5  </a:t>
            </a:r>
            <a:pPr indent="0" marL="0">
              <a:buNone/>
            </a:pPr>
            <a:r>
              <a:rPr lang="en-US" sz="27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more spend won't fix it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829800" y="402336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3E9B6C"/>
          </a:solidFill>
          <a:ln/>
        </p:spPr>
      </p:sp>
      <p:sp>
        <p:nvSpPr>
          <p:cNvPr id="4" name="Text 2"/>
          <p:cNvSpPr/>
          <p:nvPr/>
        </p:nvSpPr>
        <p:spPr>
          <a:xfrm>
            <a:off x="9829800" y="4023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CALL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volume is healthy; leases aren't following. The engine's read: the problem isn't marketing.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68122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5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00200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assessment — external factors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806440" y="1600200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BE5E2"/>
          </a:solidFill>
          <a:ln/>
        </p:spPr>
      </p:sp>
      <p:sp>
        <p:nvSpPr>
          <p:cNvPr id="9" name="Text 7"/>
          <p:cNvSpPr/>
          <p:nvPr/>
        </p:nvSpPr>
        <p:spPr>
          <a:xfrm>
            <a:off x="5806440" y="16002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83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822960" y="2075688"/>
            <a:ext cx="6263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property is priced ~8% above its comp set with no concessions; two nearby comps are offering six weeks free. Additional media spend is unlikely to convert at acceptable cost until pricing or concessions move.”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429000"/>
            <a:ext cx="1965960" cy="1143000"/>
          </a:xfrm>
          <a:prstGeom prst="roundRect">
            <a:avLst>
              <a:gd name="adj" fmla="val 5600"/>
            </a:avLst>
          </a:prstGeom>
          <a:solidFill>
            <a:srgbClr val="F3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520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E9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822960" y="4114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(30d)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971800" y="3429000"/>
            <a:ext cx="1965960" cy="1143000"/>
          </a:xfrm>
          <a:prstGeom prst="roundRect">
            <a:avLst>
              <a:gd name="adj" fmla="val 5600"/>
            </a:avLst>
          </a:prstGeom>
          <a:solidFill>
            <a:srgbClr val="F3F5F9"/>
          </a:solidFill>
          <a:ln/>
        </p:spPr>
      </p:sp>
      <p:sp>
        <p:nvSpPr>
          <p:cNvPr id="15" name="Text 13"/>
          <p:cNvSpPr/>
          <p:nvPr/>
        </p:nvSpPr>
        <p:spPr>
          <a:xfrm>
            <a:off x="2971800" y="3520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971800" y="4114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120640" y="3429000"/>
            <a:ext cx="1965960" cy="1143000"/>
          </a:xfrm>
          <a:prstGeom prst="roundRect">
            <a:avLst>
              <a:gd name="adj" fmla="val 5600"/>
            </a:avLst>
          </a:prstGeom>
          <a:solidFill>
            <a:srgbClr val="F3F5F9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35204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120640" y="411480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22960" y="4754880"/>
            <a:ext cx="6263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callout shown with it: “Your property's health score suggests operational improvements may be needed alongside marketing investment to fully capture lead volume.”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5870448"/>
            <a:ext cx="6812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mirrors the real pattern the spec names: high lead volume, low lease conversion. Today the AI flags it in the internal SWOT; the open question is what the client-facing version says.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635240" y="1417320"/>
            <a:ext cx="4005072" cy="4892040"/>
          </a:xfrm>
          <a:prstGeom prst="roundRect">
            <a:avLst>
              <a:gd name="adj" fmla="val 2055"/>
            </a:avLst>
          </a:prstGeom>
          <a:solidFill>
            <a:srgbClr val="F3F5F9"/>
          </a:solidFill>
          <a:ln/>
        </p:spPr>
      </p:sp>
      <p:sp>
        <p:nvSpPr>
          <p:cNvPr id="23" name="Text 21"/>
          <p:cNvSpPr/>
          <p:nvPr/>
        </p:nvSpPr>
        <p:spPr>
          <a:xfrm>
            <a:off x="7909560" y="163677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ROOM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909560" y="2039112"/>
            <a:ext cx="3502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the AI ever tell a client “more budget won't help”? How direct can it be?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909560" y="3081528"/>
            <a:ext cx="3502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does the engine hand this to — operations, pricing, or the AM to deliver in person?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909560" y="4123944"/>
            <a:ext cx="3502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non-marketing data (pricing, comps, concessions) would you trust it to reason about?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09560" y="5166360"/>
            <a:ext cx="3502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keep this from reading as excuse-making when performance is soft?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6  </a:t>
            </a:r>
            <a:pPr indent="0" marL="0">
              <a:buNone/>
            </a:pPr>
            <a:r>
              <a:rPr lang="en-US" sz="27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“30 leases by October 1”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829800" y="402336"/>
            <a:ext cx="1828800" cy="292608"/>
          </a:xfrm>
          <a:prstGeom prst="roundRect">
            <a:avLst>
              <a:gd name="adj" fmla="val 50000"/>
            </a:avLst>
          </a:prstGeom>
          <a:solidFill>
            <a:srgbClr val="3E9B6C"/>
          </a:solidFill>
          <a:ln/>
        </p:spPr>
      </p:sp>
      <p:sp>
        <p:nvSpPr>
          <p:cNvPr id="4" name="Text 2"/>
          <p:cNvSpPr/>
          <p:nvPr/>
        </p:nvSpPr>
        <p:spPr>
          <a:xfrm>
            <a:off x="9829800" y="40233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MODE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9052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lease-up with a hard deadline. Custom mode works backwards from the goal — and finds the funnel runs dry.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681228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D9DEE8"/>
            </a:solidFill>
            <a:prstDash val="solid"/>
          </a:ln>
          <a:effectLst>
            <a:outerShdw sx="100000" sy="100000" kx="0" ky="0" algn="bl" rotWithShape="0" blurRad="76200" dist="25400" dir="5400000">
              <a:srgbClr val="9AA3B5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60020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Full-funnel plan — working backwards from the goal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057400"/>
            <a:ext cx="6263640" cy="475488"/>
          </a:xfrm>
          <a:prstGeom prst="roundRect">
            <a:avLst>
              <a:gd name="adj" fmla="val 11538"/>
            </a:avLst>
          </a:prstGeom>
          <a:solidFill>
            <a:srgbClr val="3E9B6C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057400"/>
            <a:ext cx="5989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leases needed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624328"/>
            <a:ext cx="5029200" cy="475488"/>
          </a:xfrm>
          <a:prstGeom prst="roundRect">
            <a:avLst>
              <a:gd name="adj" fmla="val 11538"/>
            </a:avLst>
          </a:prstGeom>
          <a:solidFill>
            <a:srgbClr val="E3F1E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624328"/>
            <a:ext cx="4754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9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~960  </a:t>
            </a:r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qualified leads required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191256"/>
            <a:ext cx="3794760" cy="475488"/>
          </a:xfrm>
          <a:prstGeom prst="roundRect">
            <a:avLst>
              <a:gd name="adj" fmla="val 11538"/>
            </a:avLst>
          </a:prstGeom>
          <a:solidFill>
            <a:srgbClr val="E3F1EA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191256"/>
            <a:ext cx="3520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9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~48k  </a:t>
            </a:r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sessions required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758184"/>
            <a:ext cx="2560320" cy="475488"/>
          </a:xfrm>
          <a:prstGeom prst="roundRect">
            <a:avLst>
              <a:gd name="adj" fmla="val 11538"/>
            </a:avLst>
          </a:prstGeom>
          <a:solidFill>
            <a:srgbClr val="E3F1E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75818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9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~2.4M  </a:t>
            </a:r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 required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434840"/>
            <a:ext cx="6263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runs dry: </a:t>
            </a:r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Search saturates at ~1.2× current spend — past that cap, extra dollars are only ~12% effective. The plan pushes incremental budget into Meta, CTV, and retargeting, which still have headroom.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5870448"/>
            <a:ext cx="6812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Budget Simulator already on the portal (by channel · by category · scenarios). Custom mode wires it to a named goal with a deadline — the engine reports weekly against the goal, not against last month.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635240" y="1417320"/>
            <a:ext cx="4005072" cy="4892040"/>
          </a:xfrm>
          <a:prstGeom prst="roundRect">
            <a:avLst>
              <a:gd name="adj" fmla="val 2055"/>
            </a:avLst>
          </a:prstGeom>
          <a:solidFill>
            <a:srgbClr val="F3F5F9"/>
          </a:solidFill>
          <a:ln/>
        </p:spPr>
      </p:sp>
      <p:sp>
        <p:nvSpPr>
          <p:cNvPr id="19" name="Text 17"/>
          <p:cNvSpPr/>
          <p:nvPr/>
        </p:nvSpPr>
        <p:spPr>
          <a:xfrm>
            <a:off x="7909560" y="1636776"/>
            <a:ext cx="3456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ROOM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09560" y="2039112"/>
            <a:ext cx="3502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goals like this actually reach the marketing team today — and early enough to act?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09560" y="3081528"/>
            <a:ext cx="3502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owns the plan: the engine drafts and the AM edits, or the reverse?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909560" y="4123944"/>
            <a:ext cx="3502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goal is unreachable at any budget, what should the engine say — and to whom?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09560" y="5166360"/>
            <a:ext cx="3502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20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upper-funnel channels do you trust when the deadline is real?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questions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8696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individual scenarios — the answers here shape the engine's defaults for all 700+ properties.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3F5F9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719072"/>
            <a:ext cx="146304" cy="146304"/>
          </a:xfrm>
          <a:prstGeom prst="ellipse">
            <a:avLst/>
          </a:prstGeom>
          <a:solidFill>
            <a:srgbClr val="C2497B"/>
          </a:solidFill>
          <a:ln/>
        </p:spPr>
      </p:sp>
      <p:sp>
        <p:nvSpPr>
          <p:cNvPr id="6" name="Text 4"/>
          <p:cNvSpPr/>
          <p:nvPr/>
        </p:nvSpPr>
        <p:spPr>
          <a:xfrm>
            <a:off x="1060704" y="1609344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&amp; trust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029968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current caps right — 15% per shift, $500 auto-pilot, +50% per increase?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615184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the engine never do without a named human owning it?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C24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data is thin (new property, &lt;3 months history), should it stay silent or hedge loudly?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3F5F9"/>
          </a:solidFill>
          <a:ln/>
        </p:spPr>
      </p:sp>
      <p:sp>
        <p:nvSpPr>
          <p:cNvPr id="11" name="Shape 9"/>
          <p:cNvSpPr/>
          <p:nvPr/>
        </p:nvSpPr>
        <p:spPr>
          <a:xfrm>
            <a:off x="6473952" y="1719072"/>
            <a:ext cx="146304" cy="146304"/>
          </a:xfrm>
          <a:prstGeom prst="ellipse">
            <a:avLst/>
          </a:prstGeom>
          <a:solidFill>
            <a:srgbClr val="3B82C4"/>
          </a:solidFill>
          <a:ln/>
        </p:spPr>
      </p:sp>
      <p:sp>
        <p:nvSpPr>
          <p:cNvPr id="12" name="Text 10"/>
          <p:cNvSpPr/>
          <p:nvPr/>
        </p:nvSpPr>
        <p:spPr>
          <a:xfrm>
            <a:off x="6729984" y="1609344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&amp; workflow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492240" y="2029968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approvals or a weekly batch queue for AMs?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615184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AMs be able to counter-propose (edit the number) rather than just approve/reject?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3200400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B8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Whose approval carries the day when client and AM disagree?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3F5F9"/>
          </a:solidFill>
          <a:ln/>
        </p:spPr>
      </p:sp>
      <p:sp>
        <p:nvSpPr>
          <p:cNvPr id="17" name="Shape 15"/>
          <p:cNvSpPr/>
          <p:nvPr/>
        </p:nvSpPr>
        <p:spPr>
          <a:xfrm>
            <a:off x="804672" y="4233672"/>
            <a:ext cx="146304" cy="146304"/>
          </a:xfrm>
          <a:prstGeom prst="ellipse">
            <a:avLst/>
          </a:prstGeom>
          <a:solidFill>
            <a:srgbClr val="3E9B6C"/>
          </a:solidFill>
          <a:ln/>
        </p:spPr>
      </p:sp>
      <p:sp>
        <p:nvSpPr>
          <p:cNvPr id="18" name="Text 16"/>
          <p:cNvSpPr/>
          <p:nvPr/>
        </p:nvSpPr>
        <p:spPr>
          <a:xfrm>
            <a:off x="1060704" y="4123944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communication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" y="4544568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E9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label AI-authored content — and is “AI-curated” a feature or a liability?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129784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E9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tone earns trust: confident, hedged, or numbers-only?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5715000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E9B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should a client never learn from the portal before their AM does?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17920" y="3977640"/>
            <a:ext cx="5440680" cy="2377440"/>
          </a:xfrm>
          <a:prstGeom prst="roundRect">
            <a:avLst>
              <a:gd name="adj" fmla="val 3462"/>
            </a:avLst>
          </a:prstGeom>
          <a:solidFill>
            <a:srgbClr val="F3F5F9"/>
          </a:solidFill>
          <a:ln/>
        </p:spPr>
      </p:sp>
      <p:sp>
        <p:nvSpPr>
          <p:cNvPr id="23" name="Shape 21"/>
          <p:cNvSpPr/>
          <p:nvPr/>
        </p:nvSpPr>
        <p:spPr>
          <a:xfrm>
            <a:off x="6473952" y="4233672"/>
            <a:ext cx="146304" cy="146304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6729984" y="4123944"/>
            <a:ext cx="4709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reality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492240" y="4544568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the 3 situations that burned the most of your time last quarter?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92240" y="5129784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recurring client questions could the engine answer before they're asked?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92240" y="5715000"/>
            <a:ext cx="4892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</a:t>
            </a:r>
            <a:pPr indent="0" marL="0">
              <a:buNone/>
            </a:pPr>
            <a:r>
              <a:rPr lang="en-US" sz="11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engine get wrong about how budgets actually move at RPM?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this room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822960" y="1463040"/>
            <a:ext cx="10543032" cy="1298448"/>
          </a:xfrm>
          <a:prstGeom prst="roundRect">
            <a:avLst>
              <a:gd name="adj" fmla="val 6338"/>
            </a:avLst>
          </a:prstGeom>
          <a:solidFill>
            <a:srgbClr val="1E2A44"/>
          </a:solidFill>
          <a:ln w="12700">
            <a:solidFill>
              <a:srgbClr val="2C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5568" y="1847088"/>
            <a:ext cx="475488" cy="475488"/>
          </a:xfrm>
          <a:prstGeom prst="ellipse">
            <a:avLst/>
          </a:prstGeom>
          <a:solidFill>
            <a:srgbClr val="C2497B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" y="18470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874520" y="1609344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Pressure-test the guardrails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874520" y="2011680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caps in this deck — 15% per shift, $500 auto-pilot moves, +50% budget increases — are engineering defaults, not marketing judgment. Tell us where they're wrong.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2944368"/>
            <a:ext cx="10543032" cy="1298448"/>
          </a:xfrm>
          <a:prstGeom prst="roundRect">
            <a:avLst>
              <a:gd name="adj" fmla="val 6338"/>
            </a:avLst>
          </a:prstGeom>
          <a:solidFill>
            <a:srgbClr val="1E2A44"/>
          </a:solidFill>
          <a:ln w="12700">
            <a:solidFill>
              <a:srgbClr val="2C3A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15568" y="3328416"/>
            <a:ext cx="475488" cy="475488"/>
          </a:xfrm>
          <a:prstGeom prst="ellipse">
            <a:avLst/>
          </a:prstGeom>
          <a:solidFill>
            <a:srgbClr val="C2497B"/>
          </a:solidFill>
          <a:ln/>
        </p:spPr>
      </p:sp>
      <p:sp>
        <p:nvSpPr>
          <p:cNvPr id="10" name="Text 8"/>
          <p:cNvSpPr/>
          <p:nvPr/>
        </p:nvSpPr>
        <p:spPr>
          <a:xfrm>
            <a:off x="1115568" y="3328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874520" y="3090672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us three real situations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874520" y="3493008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messiest budget calls, client escalations, or missed opportunities from last quarter. We'll replay them through the engine and show you what it would have done.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425696"/>
            <a:ext cx="10543032" cy="1298448"/>
          </a:xfrm>
          <a:prstGeom prst="roundRect">
            <a:avLst>
              <a:gd name="adj" fmla="val 6338"/>
            </a:avLst>
          </a:prstGeom>
          <a:solidFill>
            <a:srgbClr val="1E2A44"/>
          </a:solidFill>
          <a:ln w="12700">
            <a:solidFill>
              <a:srgbClr val="2C3A5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5568" y="4809744"/>
            <a:ext cx="475488" cy="475488"/>
          </a:xfrm>
          <a:prstGeom prst="ellipse">
            <a:avLst/>
          </a:prstGeom>
          <a:solidFill>
            <a:srgbClr val="C2497B"/>
          </a:solidFill>
          <a:ln/>
        </p:spPr>
      </p:sp>
      <p:sp>
        <p:nvSpPr>
          <p:cNvPr id="15" name="Text 13"/>
          <p:cNvSpPr/>
          <p:nvPr/>
        </p:nvSpPr>
        <p:spPr>
          <a:xfrm>
            <a:off x="1115568" y="48097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874520" y="457200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pilot properties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874520" y="4974336"/>
            <a:ext cx="9235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properties for co-pilot mode — enough variety in tier, market, and budget size to stress the recommendations before a broader rollout.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6080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forecasting, recommendation, and approval flows in this deck are built and running on pilot data today. Your answers set the guardrails before we switch them on broadly.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2026-07-28T16:01:33Z</dcterms:created>
  <dcterms:modified xsi:type="dcterms:W3CDTF">2026-07-28T16:01:33Z</dcterms:modified>
</cp:coreProperties>
</file>